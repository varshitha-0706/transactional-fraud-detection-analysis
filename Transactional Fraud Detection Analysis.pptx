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3" d="100"/>
          <a:sy n="73" d="100"/>
        </p:scale>
        <p:origin x="36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7F0A0-7337-0799-C8BF-4BAF2E15F0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FD7B27-BC23-2A3A-4FC6-B283653509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503BB5-4E0B-278F-B761-BFD7059F0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2D7E5-A98C-4BD8-BB19-9F5C55E1BF0A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BD133-0130-EC87-6786-76BD060BA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FB8A59-DD84-B327-2A9D-34C2DB27B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88709-025B-4897-A1DE-1448FB01BF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2555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208A8-6FE1-264A-6384-2CBA0BA50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78143C-0944-0D83-A2CD-81DBC90A1E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525106-A580-F32C-626E-4EFBA4594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2D7E5-A98C-4BD8-BB19-9F5C55E1BF0A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EFB463-E2B6-22A1-2A37-32AB75111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9AA722-0417-CE8F-1D88-1F54B2690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88709-025B-4897-A1DE-1448FB01BF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1850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44508-D70F-BE17-1842-C10666F0C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8D46F8-9AB0-8D2F-8D93-7009CFE271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8830A6-EFF8-039C-F593-04597311E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2D7E5-A98C-4BD8-BB19-9F5C55E1BF0A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E71839-3915-DE92-75C7-C38FEED71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22974-368D-5842-7700-7B6455E55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88709-025B-4897-A1DE-1448FB01BF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1644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4BCE3-0EB6-21A1-A77A-9EB6E3B47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D5FB39-3A24-D771-B7E5-06839B3F44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DAA83B-1326-18DB-923D-329E0789B1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B6107E-5447-2455-7DFC-81276CEB9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2D7E5-A98C-4BD8-BB19-9F5C55E1BF0A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7FAC2B-FAA8-9FA0-BCE2-92FFEEAE7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18D88E-28C3-8AFC-655C-A3F513620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88709-025B-4897-A1DE-1448FB01BF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5358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94724-3E97-879E-4CF5-0FFC11EDC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37A21F-53DC-5E80-2A31-6B784A883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AA34F0-0CFB-56AD-4E8A-905F4F3D21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B54620-126A-7AF4-6D8B-4944D0C9AC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3496AA-4B2C-8BAB-A640-D1DCC39BB2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F508A9-91B6-2D5F-D17E-21B6ACA2A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2D7E5-A98C-4BD8-BB19-9F5C55E1BF0A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65011C-1C61-5FE9-0DA9-7DA7B0B95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AF4E47-5A34-39B3-4059-E734CD19E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88709-025B-4897-A1DE-1448FB01BF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136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B9A01-69F7-A85D-E756-2AA58B289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05AEAC-0BF4-1178-1B29-E27C9E7DA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2D7E5-A98C-4BD8-BB19-9F5C55E1BF0A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C4AF92-8EE2-44FD-AB8E-122699D1A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15156E-1879-EB18-766F-B75499812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88709-025B-4897-A1DE-1448FB01BF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8139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8B78F7-5C43-CD1A-3B12-FC60FC35B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2D7E5-A98C-4BD8-BB19-9F5C55E1BF0A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8B0E22-6550-8CE9-D8C0-6961E72B3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7BFC2C-E632-A13B-EDC7-9CDB22B4C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88709-025B-4897-A1DE-1448FB01BF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7821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E43AB-0813-C0B0-7522-CEB8B4659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0A75C0-6A2A-0431-0618-4B48C5099B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5F5278-E0CB-4655-D4A9-6D9309CB7A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A347A8-7002-F6AD-D113-6D2BE5BA1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2D7E5-A98C-4BD8-BB19-9F5C55E1BF0A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6118BB-7E71-CC6C-33C6-AB6704321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8EC335-A1FF-F11D-F628-25F676370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88709-025B-4897-A1DE-1448FB01BF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5435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68243-38FE-D24B-4F87-47085E0D8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B11245-3F53-7CD2-881D-47DB07348E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196C1C-699B-B308-5BBC-94E0EB7993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D913B6-BAC5-4C6E-2275-E76B6720A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2D7E5-A98C-4BD8-BB19-9F5C55E1BF0A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817157-45F5-D26E-ADCF-31F75607B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9A4255-F0E9-A2FF-2641-8A3330EB0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88709-025B-4897-A1DE-1448FB01BF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7103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76E6B-E2C6-3010-28B4-31E23B6D4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F60680-5C8C-B4CA-FD36-3A745893CA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04A776-B930-38CF-2777-7D218394F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2D7E5-A98C-4BD8-BB19-9F5C55E1BF0A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119F10-8583-0354-3597-C8AB6BD57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052AD7-DC40-CEFB-6110-4D4CD3044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88709-025B-4897-A1DE-1448FB01BF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4784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05F5A4-636E-4AF6-4F40-941751C975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007904-B8E1-F64F-17E3-6229FFC034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30498-9360-85CC-F157-B40BF5830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2D7E5-A98C-4BD8-BB19-9F5C55E1BF0A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7A4090-427A-DFD8-DE70-3597B0E43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EBABF8-7402-A5B3-3E17-10A9C0895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88709-025B-4897-A1DE-1448FB01BF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5305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8DDE15-658E-4F3C-F162-738B12820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DDC45A-9FB2-C0D5-55D4-7C82857D02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391B76-1336-CCBA-BCD9-D1562B2B0C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62D7E5-A98C-4BD8-BB19-9F5C55E1BF0A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918813-9CC2-187D-7499-20D08BD898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5F271E-565B-3C97-A7E4-2A136444B9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E88709-025B-4897-A1DE-1448FB01BF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6715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3C46706-B9F4-C2C4-C099-E7E86E1042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4023"/>
            <a:ext cx="12192000" cy="67839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A054A55-928F-508A-AD68-2920027E83B3}"/>
              </a:ext>
            </a:extLst>
          </p:cNvPr>
          <p:cNvSpPr txBox="1"/>
          <p:nvPr/>
        </p:nvSpPr>
        <p:spPr>
          <a:xfrm>
            <a:off x="4180114" y="1184366"/>
            <a:ext cx="7541623" cy="406690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908DFC-F645-BA59-07EE-282BB7CC6D01}"/>
              </a:ext>
            </a:extLst>
          </p:cNvPr>
          <p:cNvSpPr txBox="1"/>
          <p:nvPr/>
        </p:nvSpPr>
        <p:spPr>
          <a:xfrm>
            <a:off x="4528457" y="1558834"/>
            <a:ext cx="671430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TRANSACTIONAL FRAUD DETECTION SYSTEMS</a:t>
            </a:r>
          </a:p>
        </p:txBody>
      </p:sp>
    </p:spTree>
    <p:extLst>
      <p:ext uri="{BB962C8B-B14F-4D97-AF65-F5344CB8AC3E}">
        <p14:creationId xmlns:p14="http://schemas.microsoft.com/office/powerpoint/2010/main" val="1245805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3D6EEA-D765-26F7-923C-ABDB49F485B3}"/>
              </a:ext>
            </a:extLst>
          </p:cNvPr>
          <p:cNvSpPr txBox="1"/>
          <p:nvPr/>
        </p:nvSpPr>
        <p:spPr>
          <a:xfrm>
            <a:off x="2412274" y="0"/>
            <a:ext cx="6209211" cy="6351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/>
              <a:t> </a:t>
            </a:r>
            <a:r>
              <a:rPr lang="en-IN" sz="32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</a:t>
            </a:r>
            <a:endParaRPr lang="en-IN" sz="32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Abstract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Introduction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Problem Statement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Technologies Used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Modules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Dataset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Data Flow Diagram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System Architecture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Model Evaluation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Screenshots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11. Advantages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12. Conclusion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13. References</a:t>
            </a:r>
          </a:p>
        </p:txBody>
      </p:sp>
    </p:spTree>
    <p:extLst>
      <p:ext uri="{BB962C8B-B14F-4D97-AF65-F5344CB8AC3E}">
        <p14:creationId xmlns:p14="http://schemas.microsoft.com/office/powerpoint/2010/main" val="32808170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350742B-E202-1F45-31A0-D8B261496431}"/>
              </a:ext>
            </a:extLst>
          </p:cNvPr>
          <p:cNvSpPr txBox="1"/>
          <p:nvPr/>
        </p:nvSpPr>
        <p:spPr>
          <a:xfrm>
            <a:off x="391886" y="966652"/>
            <a:ext cx="11260183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GB" sz="20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endParaRPr lang="en-GB" sz="2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presents a comprehensive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Transactional Credit Card Fraud Detection System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using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learning, SQL analytics, and interactive dashboards.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transaction data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patterns of fraudulent activity and predicts suspicious transactions in real time.</a:t>
            </a:r>
          </a:p>
          <a:p>
            <a:pPr lvl="1" algn="just">
              <a:lnSpc>
                <a:spcPct val="150000"/>
              </a:lnSpc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addresses the challenge of detecting fraud within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highly imbalanced datasets,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fraudulent transactions represent a very small percentage of total data. By integrating data engineering, machine learning, and visualization tools, the system not only predicts fraud but also provides actionable insights for business decision-making.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49660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F295849-CB2C-17E8-9CC6-D78943F5C1E7}"/>
              </a:ext>
            </a:extLst>
          </p:cNvPr>
          <p:cNvSpPr txBox="1"/>
          <p:nvPr/>
        </p:nvSpPr>
        <p:spPr>
          <a:xfrm>
            <a:off x="148045" y="905691"/>
            <a:ext cx="11495315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GB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GB" sz="20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lvl="1"/>
            <a:endParaRPr lang="en-GB" sz="2000" b="1" u="sng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the increasing adoption of digital payment systems, financial fraud has become a major concern for organizations worldwide. Fraudulent transactions are often hidden within large volumes of legitimate transactions, making detection complex and challenging.</a:t>
            </a:r>
          </a:p>
          <a:p>
            <a:pPr lvl="1" algn="just">
              <a:lnSpc>
                <a:spcPct val="150000"/>
              </a:lnSpc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rule-based systems are no longer sufficient to handle evolving fraud patterns. Therefore, advanced analytical and machine learning techniques are required to identify anomalies and predict fraud effectively.</a:t>
            </a:r>
          </a:p>
          <a:p>
            <a:pPr lvl="1" algn="just"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aims to build a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fraud detection system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combines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processing, predictive </a:t>
            </a:r>
            <a:r>
              <a:rPr lang="en-GB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visualization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fraud detection accuracy and business efficiency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3287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D601721-A778-A76B-2953-2B2B8B6B0FBC}"/>
              </a:ext>
            </a:extLst>
          </p:cNvPr>
          <p:cNvSpPr txBox="1"/>
          <p:nvPr/>
        </p:nvSpPr>
        <p:spPr>
          <a:xfrm>
            <a:off x="313509" y="400594"/>
            <a:ext cx="11469188" cy="59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GB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GB" sz="20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lvl="1"/>
            <a:endParaRPr lang="en-GB" sz="2000" b="1" u="sng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fraud results in significant monetary losses and damages customer trust. The primary challenge is to identify fraudulent transactions that are rare and difficult to detect within large datasets.</a:t>
            </a:r>
          </a:p>
          <a:p>
            <a:pPr lvl="1">
              <a:lnSpc>
                <a:spcPct val="150000"/>
              </a:lnSpc>
            </a:pPr>
            <a:r>
              <a:rPr lang="en-GB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3.1 Fraud Detection</a:t>
            </a:r>
          </a:p>
          <a:p>
            <a:pPr lvl="1"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Fraud detection involves identifying suspicious transactions that deviate from normal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It requires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transaction data, identifying anomalies, and applying predictive models.</a:t>
            </a:r>
          </a:p>
          <a:p>
            <a:pPr lvl="1">
              <a:lnSpc>
                <a:spcPct val="150000"/>
              </a:lnSpc>
            </a:pPr>
            <a:r>
              <a:rPr lang="en-GB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3.2 Fraud Detection Process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from transaction records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and preprocessing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 and evaluation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fraud prediction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0268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A925F6-0471-E085-C681-1EA09D0B8205}"/>
              </a:ext>
            </a:extLst>
          </p:cNvPr>
          <p:cNvSpPr txBox="1"/>
          <p:nvPr/>
        </p:nvSpPr>
        <p:spPr>
          <a:xfrm>
            <a:off x="766353" y="278674"/>
            <a:ext cx="11112137" cy="6771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GB" sz="20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leverages a combination of data engineering, machine learning, and visualization tools: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4.1 Machine Learning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classification models to detect fraudulent transactions. Implemented probability-based prediction.  Applied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threshold tuning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better performance on imbalanced data. 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4.2 Python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programming language.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 used: </a:t>
            </a:r>
          </a:p>
          <a:p>
            <a:pPr lvl="1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(data manipulation) </a:t>
            </a:r>
          </a:p>
          <a:p>
            <a:pPr lvl="1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(numerical operations) </a:t>
            </a:r>
          </a:p>
          <a:p>
            <a:pPr lvl="1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(model building) </a:t>
            </a:r>
          </a:p>
          <a:p>
            <a:pPr lvl="1"/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4.3 PostgreSQL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cleaning,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storing and managing transaction data .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Enabled efficient querying and data analysis. 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4.4 </a:t>
            </a:r>
            <a:r>
              <a:rPr lang="en-GB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endParaRPr lang="en-GB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interactive web application. Enables real-time fraud prediction. 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4.5 Power BI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dashboard creation.  Visualizes fraud patterns and insights.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966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4E9323-9765-1471-9CB8-9A59090F6E4B}"/>
              </a:ext>
            </a:extLst>
          </p:cNvPr>
          <p:cNvSpPr txBox="1"/>
          <p:nvPr/>
        </p:nvSpPr>
        <p:spPr>
          <a:xfrm>
            <a:off x="139336" y="139337"/>
            <a:ext cx="11895909" cy="7325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IN" sz="20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divided into the following modules:</a:t>
            </a:r>
          </a:p>
          <a:p>
            <a:r>
              <a:rPr lang="en-GB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5.1.Data Preparation and Initial Exploration </a:t>
            </a:r>
            <a:endParaRPr lang="en-IN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Cleans data, handles missing values, and prepares dataset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SQL to query and extract the transaction dataset,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21+ queries for business insights.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the data into a Pandas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perform initial profiling (check data types, missing values, basic statistics        using .info() and .describe()).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 missing values and correct data inconsistencies.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class imbalance (fraudulent vs. non-fraudulent transactions), which is critical for this problem.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5.2 Deep Dive with Exploratory Data Analysis (EDA)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Performing  univariate and bivariate analysis.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distribution of key variables like transaction amount, time of day, etc., for both fraudulent and legitimate transactions.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visualizations (histograms, box plots, scatter plots) to compare the characteristics of fraudulent vs. non-fraudulent activities.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key features that appear to be strong indicators of fraud. Document all initial findings in notebook.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5.3 Feature Engineering and Baseline </a:t>
            </a:r>
            <a:r>
              <a:rPr lang="en-IN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new features that improve model performance (transaction frequency for a user, time since last transaction).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 the data into training and testing sets. Train a simple classification model, like Logistic Regression, to establish a baseline performance.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the model using appropriate metrics for imbalanced data (Precision, Recall, F1-Score, ROC-AUC curve) instead of just accuracy.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80978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A6CB9D-F446-243A-0A87-2637930CA132}"/>
              </a:ext>
            </a:extLst>
          </p:cNvPr>
          <p:cNvSpPr txBox="1"/>
          <p:nvPr/>
        </p:nvSpPr>
        <p:spPr>
          <a:xfrm>
            <a:off x="95793" y="235133"/>
            <a:ext cx="117739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5.4 Analysis, Reporting, and Dashboard Creation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 the model's results and identify the top predictors of fraud.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detailed report summarizing your methodology, EDA findings, and model performance.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 an interactive dashboard in Power BI that showcases key trends, patterns of fraud, and high-risk segments.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AF25E1A-8A13-BE25-3D70-98144979FF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171" y="2551837"/>
            <a:ext cx="6200504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SQL Analytics Module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Performs 21+ queries for business insights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Module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Predicts fraud using trained model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E80C72C4-3068-EF34-F12B-92B40C81DC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793" y="4467497"/>
            <a:ext cx="4570482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Application Module (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user interface for real-time prediction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Module (Power BI)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Displays trends and insights </a:t>
            </a:r>
          </a:p>
        </p:txBody>
      </p:sp>
    </p:spTree>
    <p:extLst>
      <p:ext uri="{BB962C8B-B14F-4D97-AF65-F5344CB8AC3E}">
        <p14:creationId xmlns:p14="http://schemas.microsoft.com/office/powerpoint/2010/main" val="11350196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CE8274-7AAB-A02D-7EE9-939FA2D72404}"/>
              </a:ext>
            </a:extLst>
          </p:cNvPr>
          <p:cNvSpPr txBox="1"/>
          <p:nvPr/>
        </p:nvSpPr>
        <p:spPr>
          <a:xfrm>
            <a:off x="531223" y="646382"/>
            <a:ext cx="627017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lang="en-IN" sz="20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contains anonymized credit card transactions.</a:t>
            </a:r>
          </a:p>
          <a:p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V1–V28 (PCA-transformed features)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Amount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(Class: Fraud / Legitimate) </a:t>
            </a:r>
          </a:p>
          <a:p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Characteristics: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Highly imbalanced dataset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Fraud transactions ≈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0.17%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special handling techniques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F55043-EA04-91B6-C35C-F9D6B280694C}"/>
              </a:ext>
            </a:extLst>
          </p:cNvPr>
          <p:cNvSpPr txBox="1"/>
          <p:nvPr/>
        </p:nvSpPr>
        <p:spPr>
          <a:xfrm>
            <a:off x="531223" y="4426514"/>
            <a:ext cx="1085088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</a:t>
            </a:r>
            <a:r>
              <a:rPr lang="en-IN" sz="20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Flow Diagram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follows this pipeline: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Data → Data Cleaning → PostgreSQL → SQL Analysis → ML Model →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Power BI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smooth data processing and real-time fraud detection.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97017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9CBFF15-A4E7-C9BA-3D4E-F4E5D5A7B371}"/>
              </a:ext>
            </a:extLst>
          </p:cNvPr>
          <p:cNvSpPr txBox="1"/>
          <p:nvPr/>
        </p:nvSpPr>
        <p:spPr>
          <a:xfrm>
            <a:off x="304800" y="191589"/>
            <a:ext cx="10885714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 </a:t>
            </a:r>
            <a:r>
              <a:rPr lang="en-IN" sz="20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→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 → ML Model + SQL Queries → Database → Dashboar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  <a:p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Feature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prediction + analytics in one system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real-time decision-making 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EE54D6-3545-AE45-9439-D566EE08B35E}"/>
              </a:ext>
            </a:extLst>
          </p:cNvPr>
          <p:cNvSpPr txBox="1"/>
          <p:nvPr/>
        </p:nvSpPr>
        <p:spPr>
          <a:xfrm>
            <a:off x="304800" y="1976692"/>
            <a:ext cx="8987246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9. </a:t>
            </a:r>
            <a:r>
              <a:rPr lang="en-IN" sz="20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</a:t>
            </a:r>
          </a:p>
          <a:p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9.1 Metrics Used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F1 Score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ROC-AUC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9.2 Confusion Matrix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 Positive (TP): Correct fraud detection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 Negative (TN): Correct normal detection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 Positive (FP): Wrong alert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 Negative (FN): Missed fraud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Insight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False Negatives are more critical than False Positives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9.3 ROC Curve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 model performance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select optimal threshold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86219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7370A8-E6E0-B651-C837-D042CC67835C}"/>
              </a:ext>
            </a:extLst>
          </p:cNvPr>
          <p:cNvSpPr txBox="1"/>
          <p:nvPr/>
        </p:nvSpPr>
        <p:spPr>
          <a:xfrm>
            <a:off x="200297" y="191589"/>
            <a:ext cx="247323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10. </a:t>
            </a:r>
            <a:r>
              <a:rPr lang="en-IN" sz="20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Screenshots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10.1 KPI Dashboard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AA63E6-BFF3-ACB9-76AC-A899844910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297" y="904696"/>
            <a:ext cx="11695612" cy="5761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9530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D85798-2D88-6E89-26A1-E48CFF1FB3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524" y="755219"/>
            <a:ext cx="11834949" cy="58937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17E61DE-C16D-9230-0517-DC5580D7038E}"/>
              </a:ext>
            </a:extLst>
          </p:cNvPr>
          <p:cNvSpPr txBox="1"/>
          <p:nvPr/>
        </p:nvSpPr>
        <p:spPr>
          <a:xfrm>
            <a:off x="400594" y="209006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10.2 Prediction System</a:t>
            </a:r>
          </a:p>
        </p:txBody>
      </p:sp>
    </p:spTree>
    <p:extLst>
      <p:ext uri="{BB962C8B-B14F-4D97-AF65-F5344CB8AC3E}">
        <p14:creationId xmlns:p14="http://schemas.microsoft.com/office/powerpoint/2010/main" val="35317756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B78FDB-56B8-A7ED-F98C-4A340F18FBAD}"/>
              </a:ext>
            </a:extLst>
          </p:cNvPr>
          <p:cNvSpPr txBox="1"/>
          <p:nvPr/>
        </p:nvSpPr>
        <p:spPr>
          <a:xfrm>
            <a:off x="287383" y="148046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10.3 Business Insights Dashboard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1D35C9A-157A-E984-0834-70EA9ACC8F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429" y="661851"/>
            <a:ext cx="11321142" cy="6048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5237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F200D95-E624-A547-D427-4D68314CC46C}"/>
              </a:ext>
            </a:extLst>
          </p:cNvPr>
          <p:cNvSpPr txBox="1"/>
          <p:nvPr/>
        </p:nvSpPr>
        <p:spPr>
          <a:xfrm>
            <a:off x="304800" y="130629"/>
            <a:ext cx="11425646" cy="652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11. </a:t>
            </a:r>
            <a:r>
              <a:rPr lang="en-GB" sz="20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</a:t>
            </a:r>
          </a:p>
          <a:p>
            <a:r>
              <a:rPr lang="en-GB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Real-time fraud detection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can instantly identify suspicious transactions as they occur, enabling quick action to prevent fraud.</a:t>
            </a:r>
          </a:p>
          <a:p>
            <a:b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Reduces financial losses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detecting fraud early, the system helps minimize monetary damage caused by unauthorized transactions.</a:t>
            </a:r>
          </a:p>
          <a:p>
            <a:b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Improves customer trust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fraud detection ensures customer accounts are secure, increasing confidence in the system.</a:t>
            </a:r>
          </a:p>
          <a:p>
            <a:b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Supports business decision-making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insights and analytics that help organizations understand fraud patterns and take informed actions.</a:t>
            </a:r>
          </a:p>
          <a:p>
            <a:b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Scalable and efficient system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designed to handle large volumes of transaction data efficiently and can be expanded for real-world applications.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96507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A12049-9143-E409-F373-2F6EEAC295D6}"/>
              </a:ext>
            </a:extLst>
          </p:cNvPr>
          <p:cNvSpPr txBox="1"/>
          <p:nvPr/>
        </p:nvSpPr>
        <p:spPr>
          <a:xfrm>
            <a:off x="400594" y="156755"/>
            <a:ext cx="11617234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12. </a:t>
            </a:r>
            <a:r>
              <a:rPr lang="en-GB" sz="20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</a:p>
          <a:p>
            <a:endParaRPr lang="en-GB" sz="2000" b="1" u="sng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successfully demonstrates how machine learning and data analytics can be effectively utilized to detect fraudulent financial transactions. By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historical transaction data and identifying hidden patterns, the system is capable of distinguishing between legitimate and fraudulent activities with high efficiency.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integration of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for data processing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for prediction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tools for insights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creates a comprehensive and practical solution. The system not only detects fraud but also provides meaningful business insights that can support strategic decision-making.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incorporating techniques such as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threshold tuning and probability-based prediction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model is able to handle highly imbalanced datasets, which is one of the major challenges in fraud detection. Additionally, the deployment of a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</a:t>
            </a:r>
            <a:r>
              <a:rPr lang="en-GB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application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ensures that predictions can be made instantly, making the system suitable for real-world usage.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inclusion of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dashboards (Power BI)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further enhances the usability of the system by allowing stakeholders to monitor fraud trends, identify high-risk patterns, and take proactive actions.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this project highlights the importance of combining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engineering, machine learning, and business intelligence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solve real-world problems.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86634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F7340AD-726C-7C77-0965-CB7CE770C09D}"/>
              </a:ext>
            </a:extLst>
          </p:cNvPr>
          <p:cNvSpPr txBox="1"/>
          <p:nvPr/>
        </p:nvSpPr>
        <p:spPr>
          <a:xfrm>
            <a:off x="548639" y="1628502"/>
            <a:ext cx="65662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13. 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5E7659-F2C9-9133-5F8A-68BF557D31D5}"/>
              </a:ext>
            </a:extLst>
          </p:cNvPr>
          <p:cNvSpPr txBox="1"/>
          <p:nvPr/>
        </p:nvSpPr>
        <p:spPr>
          <a:xfrm>
            <a:off x="548639" y="2411790"/>
            <a:ext cx="109118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●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Kaggle Credit Card Fraud Detection Dataset: </a:t>
            </a:r>
            <a:r>
              <a:rPr lang="en-I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https://www.kaggle.com/datasets/mlg-ulb/creditcardfraud</a:t>
            </a:r>
          </a:p>
          <a:p>
            <a:r>
              <a:rPr lang="en-I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●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 Documentation: </a:t>
            </a:r>
            <a:r>
              <a:rPr lang="en-I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https://pandas.pydata.org/docs/ </a:t>
            </a:r>
          </a:p>
          <a:p>
            <a:r>
              <a:rPr lang="en-I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●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Seaborn Tutorial: </a:t>
            </a:r>
            <a:r>
              <a:rPr lang="en-I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https://seaborn.pydata.org/tutorial.html </a:t>
            </a:r>
          </a:p>
          <a:p>
            <a:r>
              <a:rPr lang="en-I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●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 Guide to Classification</a:t>
            </a:r>
            <a:r>
              <a:rPr lang="en-I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https://scikit-learn.org/stable/supervised_learning.html#supervised-learning</a:t>
            </a:r>
          </a:p>
        </p:txBody>
      </p:sp>
    </p:spTree>
    <p:extLst>
      <p:ext uri="{BB962C8B-B14F-4D97-AF65-F5344CB8AC3E}">
        <p14:creationId xmlns:p14="http://schemas.microsoft.com/office/powerpoint/2010/main" val="12192922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967F2C-1728-BA18-F406-9370B9240552}"/>
              </a:ext>
            </a:extLst>
          </p:cNvPr>
          <p:cNvSpPr txBox="1"/>
          <p:nvPr/>
        </p:nvSpPr>
        <p:spPr>
          <a:xfrm>
            <a:off x="1645921" y="2229394"/>
            <a:ext cx="838635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THANKING YOU</a:t>
            </a:r>
          </a:p>
        </p:txBody>
      </p:sp>
    </p:spTree>
    <p:extLst>
      <p:ext uri="{BB962C8B-B14F-4D97-AF65-F5344CB8AC3E}">
        <p14:creationId xmlns:p14="http://schemas.microsoft.com/office/powerpoint/2010/main" val="21210466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770</TotalTime>
  <Words>1406</Words>
  <Application>Microsoft Office PowerPoint</Application>
  <PresentationFormat>Widescreen</PresentationFormat>
  <Paragraphs>164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SUBHADIP PAL</dc:creator>
  <cp:lastModifiedBy>SUBHADIP PAL</cp:lastModifiedBy>
  <cp:revision>3</cp:revision>
  <dcterms:created xsi:type="dcterms:W3CDTF">2026-04-04T19:04:26Z</dcterms:created>
  <dcterms:modified xsi:type="dcterms:W3CDTF">2026-04-12T16:45:37Z</dcterms:modified>
</cp:coreProperties>
</file>